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3"/>
  </p:normalViewPr>
  <p:slideViewPr>
    <p:cSldViewPr snapToGrid="0" snapToObjects="1">
      <p:cViewPr varScale="1">
        <p:scale>
          <a:sx n="195" d="100"/>
          <a:sy n="195" d="100"/>
        </p:scale>
        <p:origin x="2216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2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77599-3F2F-4A9D-B088-4AFAB000D9C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3C3A137-D16D-4C86-BD18-9A8F9BA085B6}">
      <dgm:prSet/>
      <dgm:spPr/>
      <dgm:t>
        <a:bodyPr/>
        <a:lstStyle/>
        <a:p>
          <a:r>
            <a:rPr lang="en-US"/>
            <a:t>AOA = angle between wing and airflow</a:t>
          </a:r>
        </a:p>
      </dgm:t>
    </dgm:pt>
    <dgm:pt modelId="{AAE01196-71BD-4E52-9BAA-CB5BDBDCEEDA}" type="parTrans" cxnId="{30AD3D41-7C0C-417C-97E2-9EA0D261225C}">
      <dgm:prSet/>
      <dgm:spPr/>
      <dgm:t>
        <a:bodyPr/>
        <a:lstStyle/>
        <a:p>
          <a:endParaRPr lang="en-US"/>
        </a:p>
      </dgm:t>
    </dgm:pt>
    <dgm:pt modelId="{5F8243AA-851E-4259-9BBE-6B06055EA0CA}" type="sibTrans" cxnId="{30AD3D41-7C0C-417C-97E2-9EA0D261225C}">
      <dgm:prSet/>
      <dgm:spPr/>
      <dgm:t>
        <a:bodyPr/>
        <a:lstStyle/>
        <a:p>
          <a:endParaRPr lang="en-US"/>
        </a:p>
      </dgm:t>
    </dgm:pt>
    <dgm:pt modelId="{54DC8679-2277-4B41-8F28-CC16BC7CFEC7}">
      <dgm:prSet/>
      <dgm:spPr/>
      <dgm:t>
        <a:bodyPr/>
        <a:lstStyle/>
        <a:p>
          <a:r>
            <a:rPr lang="en-US"/>
            <a:t>Too high AOA → stall (lift drops, drag rises)</a:t>
          </a:r>
        </a:p>
      </dgm:t>
    </dgm:pt>
    <dgm:pt modelId="{72FB55D6-5E5C-4106-940D-2CB374A2CD16}" type="parTrans" cxnId="{583752C5-A21D-4367-9440-46EAF99E114B}">
      <dgm:prSet/>
      <dgm:spPr/>
      <dgm:t>
        <a:bodyPr/>
        <a:lstStyle/>
        <a:p>
          <a:endParaRPr lang="en-US"/>
        </a:p>
      </dgm:t>
    </dgm:pt>
    <dgm:pt modelId="{82E86A83-55C5-44E4-95A0-752F90318547}" type="sibTrans" cxnId="{583752C5-A21D-4367-9440-46EAF99E114B}">
      <dgm:prSet/>
      <dgm:spPr/>
      <dgm:t>
        <a:bodyPr/>
        <a:lstStyle/>
        <a:p>
          <a:endParaRPr lang="en-US"/>
        </a:p>
      </dgm:t>
    </dgm:pt>
    <dgm:pt modelId="{EFD73BAA-BA39-4EE8-990B-F444B9116CC5}">
      <dgm:prSet/>
      <dgm:spPr/>
      <dgm:t>
        <a:bodyPr/>
        <a:lstStyle/>
        <a:p>
          <a:r>
            <a:rPr lang="en-US"/>
            <a:t>Rule of thumb: many wings stall around ~15–20° AOA</a:t>
          </a:r>
        </a:p>
      </dgm:t>
    </dgm:pt>
    <dgm:pt modelId="{386B3806-E755-4A96-BA12-1ED8FF927497}" type="parTrans" cxnId="{CEDDE8CA-EFDE-4F88-A05B-77128D7C465F}">
      <dgm:prSet/>
      <dgm:spPr/>
      <dgm:t>
        <a:bodyPr/>
        <a:lstStyle/>
        <a:p>
          <a:endParaRPr lang="en-US"/>
        </a:p>
      </dgm:t>
    </dgm:pt>
    <dgm:pt modelId="{08ED8897-8221-4EAF-A208-9FAB476E3F85}" type="sibTrans" cxnId="{CEDDE8CA-EFDE-4F88-A05B-77128D7C465F}">
      <dgm:prSet/>
      <dgm:spPr/>
      <dgm:t>
        <a:bodyPr/>
        <a:lstStyle/>
        <a:p>
          <a:endParaRPr lang="en-US"/>
        </a:p>
      </dgm:t>
    </dgm:pt>
    <dgm:pt modelId="{2C0F3161-5240-B040-8543-CBC8702342F5}" type="pres">
      <dgm:prSet presAssocID="{B2C77599-3F2F-4A9D-B088-4AFAB000D9C9}" presName="diagram" presStyleCnt="0">
        <dgm:presLayoutVars>
          <dgm:dir/>
          <dgm:resizeHandles val="exact"/>
        </dgm:presLayoutVars>
      </dgm:prSet>
      <dgm:spPr/>
    </dgm:pt>
    <dgm:pt modelId="{AD839B88-2FA5-EE44-BB50-B39C538B9275}" type="pres">
      <dgm:prSet presAssocID="{63C3A137-D16D-4C86-BD18-9A8F9BA085B6}" presName="node" presStyleLbl="node1" presStyleIdx="0" presStyleCnt="3">
        <dgm:presLayoutVars>
          <dgm:bulletEnabled val="1"/>
        </dgm:presLayoutVars>
      </dgm:prSet>
      <dgm:spPr/>
    </dgm:pt>
    <dgm:pt modelId="{9115EBD5-74B8-CE44-8FED-A1649380A510}" type="pres">
      <dgm:prSet presAssocID="{5F8243AA-851E-4259-9BBE-6B06055EA0CA}" presName="sibTrans" presStyleCnt="0"/>
      <dgm:spPr/>
    </dgm:pt>
    <dgm:pt modelId="{AA6625AF-5A97-9143-B7DF-10B318790F2B}" type="pres">
      <dgm:prSet presAssocID="{54DC8679-2277-4B41-8F28-CC16BC7CFEC7}" presName="node" presStyleLbl="node1" presStyleIdx="1" presStyleCnt="3">
        <dgm:presLayoutVars>
          <dgm:bulletEnabled val="1"/>
        </dgm:presLayoutVars>
      </dgm:prSet>
      <dgm:spPr/>
    </dgm:pt>
    <dgm:pt modelId="{69A69AE9-55C7-6F4F-830F-0862E86AB417}" type="pres">
      <dgm:prSet presAssocID="{82E86A83-55C5-44E4-95A0-752F90318547}" presName="sibTrans" presStyleCnt="0"/>
      <dgm:spPr/>
    </dgm:pt>
    <dgm:pt modelId="{01E29C12-6E95-ED48-8C5A-550473348291}" type="pres">
      <dgm:prSet presAssocID="{EFD73BAA-BA39-4EE8-990B-F444B9116CC5}" presName="node" presStyleLbl="node1" presStyleIdx="2" presStyleCnt="3">
        <dgm:presLayoutVars>
          <dgm:bulletEnabled val="1"/>
        </dgm:presLayoutVars>
      </dgm:prSet>
      <dgm:spPr/>
    </dgm:pt>
  </dgm:ptLst>
  <dgm:cxnLst>
    <dgm:cxn modelId="{A95C1E29-7225-3340-ABA3-A16C97371BB3}" type="presOf" srcId="{63C3A137-D16D-4C86-BD18-9A8F9BA085B6}" destId="{AD839B88-2FA5-EE44-BB50-B39C538B9275}" srcOrd="0" destOrd="0" presId="urn:microsoft.com/office/officeart/2005/8/layout/default"/>
    <dgm:cxn modelId="{30AD3D41-7C0C-417C-97E2-9EA0D261225C}" srcId="{B2C77599-3F2F-4A9D-B088-4AFAB000D9C9}" destId="{63C3A137-D16D-4C86-BD18-9A8F9BA085B6}" srcOrd="0" destOrd="0" parTransId="{AAE01196-71BD-4E52-9BAA-CB5BDBDCEEDA}" sibTransId="{5F8243AA-851E-4259-9BBE-6B06055EA0CA}"/>
    <dgm:cxn modelId="{BC367D44-E34A-9E4C-A654-A323D625FA87}" type="presOf" srcId="{54DC8679-2277-4B41-8F28-CC16BC7CFEC7}" destId="{AA6625AF-5A97-9143-B7DF-10B318790F2B}" srcOrd="0" destOrd="0" presId="urn:microsoft.com/office/officeart/2005/8/layout/default"/>
    <dgm:cxn modelId="{B6C4F755-250B-CD4F-8B5C-41BFAD543803}" type="presOf" srcId="{EFD73BAA-BA39-4EE8-990B-F444B9116CC5}" destId="{01E29C12-6E95-ED48-8C5A-550473348291}" srcOrd="0" destOrd="0" presId="urn:microsoft.com/office/officeart/2005/8/layout/default"/>
    <dgm:cxn modelId="{583752C5-A21D-4367-9440-46EAF99E114B}" srcId="{B2C77599-3F2F-4A9D-B088-4AFAB000D9C9}" destId="{54DC8679-2277-4B41-8F28-CC16BC7CFEC7}" srcOrd="1" destOrd="0" parTransId="{72FB55D6-5E5C-4106-940D-2CB374A2CD16}" sibTransId="{82E86A83-55C5-44E4-95A0-752F90318547}"/>
    <dgm:cxn modelId="{F5B94CCA-697D-6C4D-A7C6-74419FA96A63}" type="presOf" srcId="{B2C77599-3F2F-4A9D-B088-4AFAB000D9C9}" destId="{2C0F3161-5240-B040-8543-CBC8702342F5}" srcOrd="0" destOrd="0" presId="urn:microsoft.com/office/officeart/2005/8/layout/default"/>
    <dgm:cxn modelId="{CEDDE8CA-EFDE-4F88-A05B-77128D7C465F}" srcId="{B2C77599-3F2F-4A9D-B088-4AFAB000D9C9}" destId="{EFD73BAA-BA39-4EE8-990B-F444B9116CC5}" srcOrd="2" destOrd="0" parTransId="{386B3806-E755-4A96-BA12-1ED8FF927497}" sibTransId="{08ED8897-8221-4EAF-A208-9FAB476E3F85}"/>
    <dgm:cxn modelId="{A83291B5-232A-784A-82F9-41778ABBAF0D}" type="presParOf" srcId="{2C0F3161-5240-B040-8543-CBC8702342F5}" destId="{AD839B88-2FA5-EE44-BB50-B39C538B9275}" srcOrd="0" destOrd="0" presId="urn:microsoft.com/office/officeart/2005/8/layout/default"/>
    <dgm:cxn modelId="{24DB2FEA-2673-AB42-A5C9-B6AE716BAE13}" type="presParOf" srcId="{2C0F3161-5240-B040-8543-CBC8702342F5}" destId="{9115EBD5-74B8-CE44-8FED-A1649380A510}" srcOrd="1" destOrd="0" presId="urn:microsoft.com/office/officeart/2005/8/layout/default"/>
    <dgm:cxn modelId="{D0E21C1F-C486-0A42-958B-521D26A87F93}" type="presParOf" srcId="{2C0F3161-5240-B040-8543-CBC8702342F5}" destId="{AA6625AF-5A97-9143-B7DF-10B318790F2B}" srcOrd="2" destOrd="0" presId="urn:microsoft.com/office/officeart/2005/8/layout/default"/>
    <dgm:cxn modelId="{0DE77F3A-83ED-514E-813D-DBA660769AE5}" type="presParOf" srcId="{2C0F3161-5240-B040-8543-CBC8702342F5}" destId="{69A69AE9-55C7-6F4F-830F-0862E86AB417}" srcOrd="3" destOrd="0" presId="urn:microsoft.com/office/officeart/2005/8/layout/default"/>
    <dgm:cxn modelId="{A297F5A8-C257-4741-B092-5F3C374E1337}" type="presParOf" srcId="{2C0F3161-5240-B040-8543-CBC8702342F5}" destId="{01E29C12-6E95-ED48-8C5A-55047334829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39B88-2FA5-EE44-BB50-B39C538B9275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AOA = angle between wing and airflow</a:t>
          </a:r>
        </a:p>
      </dsp:txBody>
      <dsp:txXfrm>
        <a:off x="757092" y="1992"/>
        <a:ext cx="3034531" cy="1820718"/>
      </dsp:txXfrm>
    </dsp:sp>
    <dsp:sp modelId="{AA6625AF-5A97-9143-B7DF-10B318790F2B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Too high AOA → stall (lift drops, drag rises)</a:t>
          </a:r>
        </a:p>
      </dsp:txBody>
      <dsp:txXfrm>
        <a:off x="4095076" y="1992"/>
        <a:ext cx="3034531" cy="1820718"/>
      </dsp:txXfrm>
    </dsp:sp>
    <dsp:sp modelId="{01E29C12-6E95-ED48-8C5A-550473348291}">
      <dsp:nvSpPr>
        <dsp:cNvPr id="0" name=""/>
        <dsp:cNvSpPr/>
      </dsp:nvSpPr>
      <dsp:spPr>
        <a:xfrm>
          <a:off x="2426084" y="2126164"/>
          <a:ext cx="3034531" cy="1820718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Rule of thumb: many wings stall around ~15–20° AOA</a:t>
          </a:r>
        </a:p>
      </dsp:txBody>
      <dsp:txXfrm>
        <a:off x="2426084" y="2126164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E793D-8DFA-6A45-856A-677EBECDE12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F6E4A-155C-F248-A44B-7FF116B96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7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fast. Mention that Session 2 is hands-on with model/drone flight.</a:t>
            </a:r>
          </a:p>
          <a:p>
            <a:r>
              <a:t>If running short on time later: compress history and keep time for forces/lift/controls/instruments.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name 3 aircraft you’ve seen and one thing it’s used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scouts categorize examples quickly. Keep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Story-driven, not date-driven. Ask: what enabled long-distance travel?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Common misconception: helicopters still generate lift; it’s just from rotor blades.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conceptual; avoid deep thermodynamics.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Draw the arrows on a simple airplane sketch. In level cruise: </a:t>
            </a:r>
            <a:r>
              <a:rPr dirty="0" err="1"/>
              <a:t>lift≈weight</a:t>
            </a:r>
            <a:r>
              <a:rPr dirty="0"/>
              <a:t>, </a:t>
            </a:r>
            <a:r>
              <a:rPr dirty="0" err="1"/>
              <a:t>thrust≈drag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paper-strip demo. Phrase it: pressure + downwash.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Clarify: 15–20° is a common rule-of-thumb, not universal; depends on airfoil, flaps, contamination, loading.</a:t>
            </a:r>
          </a:p>
          <a:p>
            <a:r>
              <a:t>Key point: stalls are caused by AOA, not speed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hand/airplane model to show roll/pitch/yaw. Mention coordinated turns (bank + appropriate rudder).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what each tells the pilot; emphasize cross-checking multiple instruments.</a:t>
            </a:r>
            <a:br>
              <a:rPr lang="en-US" dirty="0"/>
            </a:br>
            <a:r>
              <a:rPr lang="en-US" sz="1200" dirty="0"/>
              <a:t>Airspeed • Altimeter • Attitude</a:t>
            </a:r>
          </a:p>
          <a:p>
            <a:r>
              <a:rPr lang="en-US" sz="1200" dirty="0"/>
              <a:t>Heading • Turn/Bank • Vertical speed</a:t>
            </a:r>
          </a:p>
          <a:p>
            <a:r>
              <a:rPr lang="en-US" sz="1200" dirty="0"/>
              <a:t>Compass • Navigation • Communication</a:t>
            </a:r>
            <a:br>
              <a:rPr lang="en-US" sz="1200" dirty="0"/>
            </a:br>
            <a:r>
              <a:rPr lang="en-US" sz="1200" dirty="0"/>
              <a:t>(course </a:t>
            </a:r>
            <a:r>
              <a:rPr lang="en-US" sz="1200"/>
              <a:t>deviation indicator)</a:t>
            </a:r>
            <a:endParaRPr lang="en-US" sz="1200" dirty="0"/>
          </a:p>
          <a:p>
            <a:r>
              <a:rPr lang="en-US" sz="1200" dirty="0"/>
              <a:t>Engine indicators (RPM, temps, pressures, fuel)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follow-up airport/tower/ARTCC visits if you’re offering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Aviation Merit Badge – Session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Aviation basics • How flight works • What pilots see in the cockpit</a:t>
            </a:r>
          </a:p>
        </p:txBody>
      </p:sp>
      <p:pic>
        <p:nvPicPr>
          <p:cNvPr id="7" name="Graphic 6" descr="Pilot">
            <a:extLst>
              <a:ext uri="{FF2B5EF4-FFF2-40B4-BE49-F238E27FC236}">
                <a16:creationId xmlns:a16="http://schemas.microsoft.com/office/drawing/2014/main" id="{BB795E2E-D551-AD94-7363-C2F40DDA1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Today’s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What counts as an aircraft</a:t>
            </a:r>
          </a:p>
          <a:p>
            <a:r>
              <a:rPr lang="en-US" sz="1700"/>
              <a:t>Fixed wing vs rotary wing</a:t>
            </a:r>
          </a:p>
          <a:p>
            <a:r>
              <a:rPr lang="en-US" sz="1700"/>
              <a:t>Engines: piston vs turbine vs jet</a:t>
            </a:r>
          </a:p>
          <a:p>
            <a:r>
              <a:rPr lang="en-US" sz="1700"/>
              <a:t>Four forces of flight</a:t>
            </a:r>
          </a:p>
          <a:p>
            <a:r>
              <a:rPr lang="en-US" sz="1700"/>
              <a:t>Lift + airfoils (Bernoulli + downwash)</a:t>
            </a:r>
          </a:p>
          <a:p>
            <a:r>
              <a:rPr lang="en-US" sz="1700"/>
              <a:t>Control surfaces (pitch/roll/yaw)</a:t>
            </a:r>
          </a:p>
          <a:p>
            <a:r>
              <a:rPr lang="en-US" sz="1700"/>
              <a:t>Cockpit instruments (what they tell the pilot)</a:t>
            </a:r>
          </a:p>
        </p:txBody>
      </p:sp>
      <p:pic>
        <p:nvPicPr>
          <p:cNvPr id="5" name="Picture 4" descr="Close up of a control panel of an airplane flying at night">
            <a:extLst>
              <a:ext uri="{FF2B5EF4-FFF2-40B4-BE49-F238E27FC236}">
                <a16:creationId xmlns:a16="http://schemas.microsoft.com/office/drawing/2014/main" id="{3BFEB2A3-66BB-87CE-DD3B-5CD761EF1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25" r="40497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What is an aircraft?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A machine that flies by being supported by air</a:t>
            </a:r>
          </a:p>
          <a:p>
            <a:r>
              <a:rPr lang="en-US" sz="1700"/>
              <a:t>It can create lift with wings…</a:t>
            </a:r>
          </a:p>
          <a:p>
            <a:r>
              <a:rPr lang="en-US" sz="1700"/>
              <a:t>…or lift/thrust with rotors</a:t>
            </a:r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6CCEDF5E-F235-7C5E-3AFB-B59DB09A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44" r="3392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Kinds of aircraft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Fixed-wing airplane (training, transport, cargo)</a:t>
            </a:r>
          </a:p>
          <a:p>
            <a:r>
              <a:rPr lang="en-US" sz="1700"/>
              <a:t>Rotary-wing (helicopter) (EMS, rescue, lifting)</a:t>
            </a:r>
          </a:p>
          <a:p>
            <a:r>
              <a:rPr lang="en-US" sz="1700"/>
              <a:t>Other: glider • balloon • jet airliner • drone/UAS</a:t>
            </a:r>
          </a:p>
        </p:txBody>
      </p:sp>
      <p:pic>
        <p:nvPicPr>
          <p:cNvPr id="5" name="Picture 4" descr="Airplanes on a road">
            <a:extLst>
              <a:ext uri="{FF2B5EF4-FFF2-40B4-BE49-F238E27FC236}">
                <a16:creationId xmlns:a16="http://schemas.microsoft.com/office/drawing/2014/main" id="{7E7F6B75-05DB-B5E3-7835-49A758111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25" r="27489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A short history of flight (3 moments)</a:t>
            </a:r>
          </a:p>
        </p:txBody>
      </p:sp>
      <p:pic>
        <p:nvPicPr>
          <p:cNvPr id="17" name="Picture 16" descr="Colourful hot air balloon flying">
            <a:extLst>
              <a:ext uri="{FF2B5EF4-FFF2-40B4-BE49-F238E27FC236}">
                <a16:creationId xmlns:a16="http://schemas.microsoft.com/office/drawing/2014/main" id="{06F35032-33E6-D9F3-CB2C-6E200D455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66" r="51473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Balloons: first human flight (buoyancy)</a:t>
            </a:r>
          </a:p>
          <a:p>
            <a:r>
              <a:rPr lang="en-US" sz="1700"/>
              <a:t>Wright era: powered + controlled flight</a:t>
            </a:r>
          </a:p>
          <a:p>
            <a:r>
              <a:rPr lang="en-US" sz="1700"/>
              <a:t>Turbines/jets: speed, altitude, long-distance travel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Fixed wing vs rotary wing</a:t>
            </a:r>
          </a:p>
        </p:txBody>
      </p:sp>
      <p:pic>
        <p:nvPicPr>
          <p:cNvPr id="5" name="Picture 4" descr="Sea plan on water">
            <a:extLst>
              <a:ext uri="{FF2B5EF4-FFF2-40B4-BE49-F238E27FC236}">
                <a16:creationId xmlns:a16="http://schemas.microsoft.com/office/drawing/2014/main" id="{A840E613-5771-3E62-1B3A-C9EB06D70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504" r="17034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Fixed wing: needs forward motion to make lift</a:t>
            </a:r>
          </a:p>
          <a:p>
            <a:r>
              <a:rPr lang="en-US" sz="1700"/>
              <a:t>Efficient for long distance</a:t>
            </a:r>
          </a:p>
          <a:p>
            <a:r>
              <a:rPr lang="en-US" sz="1700"/>
              <a:t>Rotary wing: rotors can hover</a:t>
            </a:r>
          </a:p>
          <a:p>
            <a:r>
              <a:rPr lang="en-US" sz="1700"/>
              <a:t>Great for point-to-point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Engines: big picture</a:t>
            </a:r>
          </a:p>
        </p:txBody>
      </p:sp>
      <p:pic>
        <p:nvPicPr>
          <p:cNvPr id="5" name="Picture 4" descr="Spiraling fan figure">
            <a:extLst>
              <a:ext uri="{FF2B5EF4-FFF2-40B4-BE49-F238E27FC236}">
                <a16:creationId xmlns:a16="http://schemas.microsoft.com/office/drawing/2014/main" id="{EDFC3F50-A995-47CA-C792-1C0D4B07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43" r="52854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Piston + prop: like a car engine turning a propeller</a:t>
            </a:r>
          </a:p>
          <a:p>
            <a:r>
              <a:rPr lang="en-US" sz="1700"/>
              <a:t>Turbine: hot gases spin turbine blades</a:t>
            </a:r>
          </a:p>
          <a:p>
            <a:r>
              <a:rPr lang="en-US" sz="1700"/>
              <a:t>Jet (turbofan): pushes air back to make thrust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A8DCD5-DA2E-979B-53F3-6F05BE90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9" b="21469"/>
          <a:stretch>
            <a:fillRect/>
          </a:stretch>
        </p:blipFill>
        <p:spPr>
          <a:xfrm>
            <a:off x="0" y="999310"/>
            <a:ext cx="9144000" cy="58586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9310"/>
          </a:xfrm>
        </p:spPr>
        <p:txBody>
          <a:bodyPr/>
          <a:lstStyle/>
          <a:p>
            <a:r>
              <a:rPr dirty="0"/>
              <a:t>The 4 forces of flight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 dirty="0"/>
              <a:t>Lift: </a:t>
            </a:r>
            <a:br>
              <a:rPr lang="en-US" sz="3100" dirty="0"/>
            </a:br>
            <a:r>
              <a:rPr lang="en-US" sz="3100" dirty="0"/>
              <a:t>how wings make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0B1DD-BB92-B094-D041-BAD1C98E9E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27" b="16232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/>
              <a:t>Air moves around an airfoil</a:t>
            </a:r>
          </a:p>
          <a:p>
            <a:r>
              <a:rPr lang="en-US" sz="1600"/>
              <a:t>Pressure differences help create lift</a:t>
            </a:r>
          </a:p>
          <a:p>
            <a:r>
              <a:rPr lang="en-US" sz="1600"/>
              <a:t>Wings also push air downward (downwash)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Angle of attack (AOA) + stall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BECEB00-374B-75B4-E809-386642AAD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14246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3A0AF4-1E8E-C08B-1FAE-322F6BDAF1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191"/>
          <a:stretch>
            <a:fillRect/>
          </a:stretch>
        </p:blipFill>
        <p:spPr>
          <a:xfrm>
            <a:off x="875211" y="391886"/>
            <a:ext cx="7393577" cy="56050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Cockpit instruments (single-engine)</a:t>
            </a:r>
          </a:p>
        </p:txBody>
      </p:sp>
      <p:pic>
        <p:nvPicPr>
          <p:cNvPr id="1026" name="Picture 2" descr="Closeup of Single-Engine Aircraft Cockpit Instrument Panel Stock Photo |  Adobe Stock">
            <a:extLst>
              <a:ext uri="{FF2B5EF4-FFF2-40B4-BE49-F238E27FC236}">
                <a16:creationId xmlns:a16="http://schemas.microsoft.com/office/drawing/2014/main" id="{00D01589-A7E8-3DAF-3E15-DA23F0BBE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9750"/>
            <a:ext cx="9144000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Wrap-up +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Session 2: safety-first flight principles in action</a:t>
            </a:r>
          </a:p>
          <a:p>
            <a:r>
              <a:rPr lang="en-US" sz="1700"/>
              <a:t>Drone option: complete FAA TRUST before next session</a:t>
            </a:r>
          </a:p>
          <a:p>
            <a:r>
              <a:rPr lang="en-US" sz="1700"/>
              <a:t>Bring questions and your handouts</a:t>
            </a:r>
          </a:p>
        </p:txBody>
      </p:sp>
      <p:pic>
        <p:nvPicPr>
          <p:cNvPr id="5" name="Picture 4" descr="Drone flying over tulip fields">
            <a:extLst>
              <a:ext uri="{FF2B5EF4-FFF2-40B4-BE49-F238E27FC236}">
                <a16:creationId xmlns:a16="http://schemas.microsoft.com/office/drawing/2014/main" id="{F1A9E207-5282-7F96-A261-05CE06156A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33" r="3561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573</Words>
  <Application>Microsoft Macintosh PowerPoint</Application>
  <PresentationFormat>On-screen Show (4:3)</PresentationFormat>
  <Paragraphs>62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Aviation Merit Badge – Session 1</vt:lpstr>
      <vt:lpstr>Today’s goals</vt:lpstr>
      <vt:lpstr>What is an aircraft?</vt:lpstr>
      <vt:lpstr>Kinds of aircraft (examples)</vt:lpstr>
      <vt:lpstr>A short history of flight (3 moments)</vt:lpstr>
      <vt:lpstr>Fixed wing vs rotary wing</vt:lpstr>
      <vt:lpstr>Engines: big picture</vt:lpstr>
      <vt:lpstr>The 4 forces of flight</vt:lpstr>
      <vt:lpstr>Lift:  how wings make it</vt:lpstr>
      <vt:lpstr>Angle of attack (AOA) + stall</vt:lpstr>
      <vt:lpstr>PowerPoint Presentation</vt:lpstr>
      <vt:lpstr>Cockpit instruments (single-engine)</vt:lpstr>
      <vt:lpstr>Wrap-up +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 Willey</cp:lastModifiedBy>
  <cp:revision>3</cp:revision>
  <dcterms:created xsi:type="dcterms:W3CDTF">2013-01-27T09:14:16Z</dcterms:created>
  <dcterms:modified xsi:type="dcterms:W3CDTF">2026-01-30T22:32:56Z</dcterms:modified>
  <cp:category/>
</cp:coreProperties>
</file>